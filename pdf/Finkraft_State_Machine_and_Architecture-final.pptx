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FINKRAFT B2B E-INVOICING PLATFORM</a:t>
            </a:r>
          </a:p>
          <a:p>
            <a:pPr>
              <a:spcBef>
                <a:spcPts val="1200"/>
              </a:spcBef>
              <a:defRPr sz="2000">
                <a:solidFill>
                  <a:srgbClr val="93C5FD"/>
                </a:solidFill>
                <a:latin typeface="Calibri"/>
              </a:defRPr>
            </a:pPr>
            <a:r>
              <a:t>UAE Federal Tax Authority (FTA) Peppol 5-Corner DCTCE Compliance Platform</a:t>
            </a:r>
          </a:p>
          <a:p>
            <a:pPr>
              <a:spcBef>
                <a:spcPts val="20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CTO Take-Home Assignment Deliverable | Architecture &amp; Editable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29260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Part 1: Architecture Design Note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Unified Adapter &amp; State Lattice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5303520"/>
            <a:ext cx="29260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Part 2: Working Python Codebase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24 Tests, Batch Processor, Zero Deps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5303520"/>
            <a:ext cx="29260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Part 3: 30-Day CTO Execution Plan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6-Week Roadmap for 3 BE + 1 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325B"/>
                </a:solidFill>
              </a:defRPr>
            </a:pPr>
            <a:r>
              <a:t>UAE FTA 5-Corner DCTCE Architecture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End-to-End Invoice Lifecyle: From Seller ERP (C1) through ASPs (C2 &amp; C3) to Buyer (C4) with FTA Clearance (C5)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16459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Corner 1 (C1)</a:t>
            </a:r>
            <a:br/>
            <a:r>
              <a:t>Seller ERP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Customer Ingestion</a:t>
            </a:r>
            <a:br/>
            <a:r>
              <a:t>Bulk CSV / REST API</a:t>
            </a:r>
            <a:br/>
            <a:r>
              <a:t>Raw Tax Invoices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554480"/>
            <a:ext cx="274320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FINKRAFT PLATFORM</a:t>
            </a:r>
            <a:br/>
            <a:r>
              <a:t>Compliance Engine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- PINT AE UBL 2.1 Validation</a:t>
            </a:r>
            <a:br/>
            <a:r>
              <a:t>- Client Idempotency Locks</a:t>
            </a:r>
            <a:br/>
            <a:r>
              <a:t>- ASP Adapter &amp; Registry</a:t>
            </a:r>
            <a:br/>
            <a:r>
              <a:t>- Timeout Active Reconciler</a:t>
            </a:r>
            <a:br/>
            <a:r>
              <a:t>- Webhook Monotonic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828800"/>
            <a:ext cx="2011680" cy="16459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Corner 2 (C2)</a:t>
            </a:r>
            <a:br/>
            <a:r>
              <a:t>Seller's ASP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Accredited Service Provider</a:t>
            </a:r>
            <a:br/>
            <a:r>
              <a:t>(ASP A or ASP B)</a:t>
            </a:r>
            <a:br/>
            <a:r>
              <a:t>Digital Signatures &amp; Peppol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65176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7480" y="2240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Raw Batch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265176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72200" y="2240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PINT AE XML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489703"/>
            <a:ext cx="219456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Corner 3 (C3)</a:t>
            </a:r>
            <a:br/>
            <a:r>
              <a:t>Buyer's ASP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Receives from Peppol Network</a:t>
            </a:r>
            <a:br/>
            <a:r>
              <a:t>Reports BUYER_RECEIVED</a:t>
            </a:r>
            <a:br/>
            <a:r>
              <a:t>(Delivery Confirmation)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4489703"/>
            <a:ext cx="2194560" cy="16459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Corner 4 (C4)</a:t>
            </a:r>
            <a:br/>
            <a:r>
              <a:t>Buyer ERP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Final Invoice Recipient</a:t>
            </a:r>
            <a:br/>
            <a:r>
              <a:t>ERP Accounts Payable</a:t>
            </a:r>
            <a:br/>
            <a:r>
              <a:t>Validates Input Tax Credit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194560" cy="1645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Calibri"/>
              </a:defRPr>
            </a:pPr>
            <a:r>
              <a:t>Corner 5 (C5)</a:t>
            </a:r>
            <a:br/>
            <a:r>
              <a:t>UAE FTA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Federal Tax Authority</a:t>
            </a:r>
            <a:br/>
            <a:r>
              <a:t>Receives TDD Document</a:t>
            </a:r>
            <a:br/>
            <a:r>
              <a:t>Real-Time Tax Clearance</a:t>
            </a:r>
            <a:br/>
            <a:r>
              <a:t>(TAX_CONFIRMED)</a:t>
            </a:r>
          </a:p>
        </p:txBody>
      </p:sp>
      <p:cxnSp>
        <p:nvCxnSpPr>
          <p:cNvPr id="13" name="Connector 12"/>
          <p:cNvCxnSpPr>
            <a:cxnSpLocks/>
            <a:endCxn id="10" idx="0"/>
          </p:cNvCxnSpPr>
          <p:nvPr/>
        </p:nvCxnSpPr>
        <p:spPr>
          <a:xfrm flipH="1">
            <a:off x="7498080" y="3474720"/>
            <a:ext cx="182880" cy="1014983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0" y="3831337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Peppol Network Exchange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0" y="5312663"/>
            <a:ext cx="9144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49640" y="5029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Commercial Delivery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0" y="2651760"/>
            <a:ext cx="548640" cy="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41664" y="167792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rPr dirty="0"/>
              <a:t>Tax Clearance (TDD)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698480" cy="411480"/>
          </a:xfrm>
          <a:prstGeom prst="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91B1B"/>
                </a:solidFill>
              </a:defRPr>
            </a:pPr>
            <a:r>
              <a:t>Sovereign Tax Data Invariant: No invoice can ever be lost, and no duplicate invoice can ever be filed with the UAE FTA.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325B"/>
                </a:solidFill>
              </a:defRPr>
            </a:pPr>
            <a:r>
              <a:t>Lifecycle State Machine Flow &amp; Milestone Lattice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All elements below are native, fully editable PowerPoint shapes. Click, re-color, drag, or edit as needed.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1463040" cy="10058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DRAFT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Ingested from</a:t>
            </a:r>
            <a:br/>
            <a:r>
              <a:t>Customer Upload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37744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VALIDATED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Enriched &amp; Verified</a:t>
            </a:r>
            <a:br/>
            <a:r>
              <a:t>PINT AE UBL 2.1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37744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SUBMITTING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Idempotency Lock</a:t>
            </a:r>
            <a:br/>
            <a:r>
              <a:t>(seller_trn, inv_num)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377440"/>
            <a:ext cx="164592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ACKNOWLEDGED_C2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C2 ASP Accepted</a:t>
            </a:r>
            <a:br/>
            <a:r>
              <a:t>(ASP A 200 / ASP B 202)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377440"/>
            <a:ext cx="146304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VALIDATED_C2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C2 Verified Peppol</a:t>
            </a:r>
            <a:br/>
            <a:r>
              <a:t>Schema &amp; Rules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6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35040" y="2880360"/>
            <a:ext cx="6400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3931920"/>
            <a:ext cx="173736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B45309"/>
                </a:solidFill>
                <a:latin typeface="Calibri"/>
              </a:defRPr>
            </a:pPr>
            <a:r>
              <a:t>SUBMISSION_AMBIGUOUS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HTTP Timeout on Submit</a:t>
            </a:r>
            <a:br/>
            <a:r>
              <a:t>Blind Retry Banned!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3383280"/>
            <a:ext cx="0" cy="54864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Socket Timeout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4480560"/>
            <a:ext cx="1280159" cy="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498079" y="3383280"/>
            <a:ext cx="0" cy="109728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Active Recon: Found at ASP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37160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DELIVERED_C3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C3 Buyer ASP Received</a:t>
            </a:r>
            <a:br/>
            <a:r>
              <a:t>(Milestone Flag Set)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9509760" y="1874519"/>
            <a:ext cx="1005840" cy="502921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23960" y="18059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rPr dirty="0"/>
              <a:t>C3 Delivered 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38328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3325B"/>
                </a:solidFill>
                <a:latin typeface="Calibri"/>
              </a:defRPr>
            </a:pPr>
            <a:r>
              <a:t>REPORTED_C5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C5 FTA Tax Cleared</a:t>
            </a:r>
            <a:br/>
            <a:r>
              <a:t>(Milestone Flag Set)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0" y="3383280"/>
            <a:ext cx="1005840" cy="5029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52560" y="3794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C5 Reported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5120640"/>
            <a:ext cx="1737360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Calibri"/>
              </a:defRPr>
            </a:pPr>
            <a:r>
              <a:t>COMPLIANT_AND_DELIVERED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TERMINAL SUCCESS</a:t>
            </a:r>
            <a:br/>
            <a:r>
              <a:t>Both C3 Delivery &amp; C5 Clearance</a:t>
            </a:r>
            <a:br/>
            <a:r>
              <a:t>Guaranteed Compliant</a:t>
            </a:r>
          </a:p>
        </p:txBody>
      </p:sp>
      <p:cxnSp>
        <p:nvCxnSpPr>
          <p:cNvPr id="25" name="Connector 24"/>
          <p:cNvCxnSpPr>
            <a:cxnSpLocks/>
            <a:endCxn id="21" idx="0"/>
          </p:cNvCxnSpPr>
          <p:nvPr/>
        </p:nvCxnSpPr>
        <p:spPr>
          <a:xfrm>
            <a:off x="11292840" y="2377440"/>
            <a:ext cx="0" cy="100584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92840" y="4389120"/>
            <a:ext cx="0" cy="73152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4984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C3+C5 Met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120640"/>
            <a:ext cx="2011680" cy="1097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 sz="1000" b="1">
                <a:solidFill>
                  <a:srgbClr val="991B1B"/>
                </a:solidFill>
                <a:latin typeface="Calibri"/>
              </a:defRPr>
            </a:pPr>
            <a:r>
              <a:t>REJECTED (Terminal)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Schema Failure (BT-48)</a:t>
            </a:r>
            <a:br/>
            <a:r>
              <a:t>or ASP Business Error</a:t>
            </a:r>
            <a:br/>
            <a:r>
              <a:t>Non-Reversible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80160" y="3383280"/>
            <a:ext cx="548640" cy="1737360"/>
          </a:xfrm>
          <a:prstGeom prst="line">
            <a:avLst/>
          </a:prstGeom>
          <a:ln w="1905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560320" y="3383280"/>
            <a:ext cx="365760" cy="1737360"/>
          </a:xfrm>
          <a:prstGeom prst="line">
            <a:avLst/>
          </a:prstGeom>
          <a:ln w="1905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931920" y="5577840"/>
            <a:ext cx="5852160" cy="64008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325B"/>
                </a:solidFill>
              </a:defRPr>
            </a:pPr>
            <a:r>
              <a:t>State Machine Legend: [Blue] In-Flight Pipeline | [Amber] Ambiguous Quarantine &amp; Recon | [Green] Terminal Compliant | [Red] Terminal Rejected</a:t>
            </a:r>
          </a:p>
          <a:p>
            <a:pPr algn="ctr">
              <a:defRPr sz="750">
                <a:solidFill>
                  <a:srgbClr val="6B7280"/>
                </a:solidFill>
              </a:defRPr>
            </a:pPr>
            <a:r>
              <a:t>Monotonic Lattice Rule: Inbound webhooks/polls can arrive out-of-order or duplicate. State only advances forward; stale events are safe no-ops.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508</Words>
  <Application>Microsoft Office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Srinivas Senniappan</cp:lastModifiedBy>
  <cp:revision>2</cp:revision>
  <dcterms:created xsi:type="dcterms:W3CDTF">2013-01-27T09:14:16Z</dcterms:created>
  <dcterms:modified xsi:type="dcterms:W3CDTF">2026-10-23T09:40:37Z</dcterms:modified>
  <cp:category/>
</cp:coreProperties>
</file>