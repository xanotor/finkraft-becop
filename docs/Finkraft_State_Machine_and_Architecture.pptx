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FINKRAFT B2B E-INVOICING PLATFORM</a:t>
            </a:r>
          </a:p>
          <a:p>
            <a:pPr>
              <a:spcBef>
                <a:spcPts val="1200"/>
              </a:spcBef>
              <a:defRPr sz="2000">
                <a:solidFill>
                  <a:srgbClr val="93C5FD"/>
                </a:solidFill>
                <a:latin typeface="Calibri"/>
              </a:defRPr>
            </a:pPr>
            <a:r>
              <a:t>UAE Federal Tax Authority (FTA) Peppol 5-Corner DCTCE Compliance Platform</a:t>
            </a:r>
          </a:p>
          <a:p>
            <a:pPr>
              <a:spcBef>
                <a:spcPts val="2000"/>
              </a:spcBef>
              <a:defRPr sz="1400">
                <a:solidFill>
                  <a:srgbClr val="CBD5E1"/>
                </a:solidFill>
                <a:latin typeface="Calibri"/>
              </a:defRPr>
            </a:pPr>
            <a:r>
              <a:t>CTO Take-Home Assignment Deliverable | Architecture &amp; Editable State Machine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5303520"/>
            <a:ext cx="292608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FFFFFF"/>
                </a:solidFill>
                <a:latin typeface="Calibri"/>
              </a:defRPr>
            </a:pPr>
            <a:r>
              <a:t>Part 1: Architecture Design Note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Unified Adapter &amp; State Lattice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5303520"/>
            <a:ext cx="292608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FFFFFF"/>
                </a:solidFill>
                <a:latin typeface="Calibri"/>
              </a:defRPr>
            </a:pPr>
            <a:r>
              <a:t>Part 2: Working Python Codebase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24 Tests, Batch Processor, Zero Deps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5303520"/>
            <a:ext cx="292608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FFFFFF"/>
                </a:solidFill>
                <a:latin typeface="Calibri"/>
              </a:defRPr>
            </a:pPr>
            <a:r>
              <a:t>Part 3: 30-Day CTO Execution Plan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6-Week Roadmap for 3 BE + 1 FE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3325B"/>
                </a:solidFill>
              </a:defRPr>
            </a:pPr>
            <a:r>
              <a:t>UAE FTA 5-Corner DCTCE Architecture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t>End-to-End Invoice Lifecyle: From Seller ERP (C1) through ASPs (C2 &amp; C3) to Buyer (C4) with FTA Clearance (C5)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011680" cy="164592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3325B"/>
                </a:solidFill>
                <a:latin typeface="Calibri"/>
              </a:defRPr>
            </a:pPr>
            <a:r>
              <a:t>Corner 1 (C1)</a:t>
            </a:r>
            <a:br/>
            <a:r>
              <a:t>Seller ERP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Customer Ingestion</a:t>
            </a:r>
            <a:br/>
            <a:r>
              <a:t>Bulk CSV / REST API</a:t>
            </a:r>
            <a:br/>
            <a:r>
              <a:t>Raw Tax Invoices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554480"/>
            <a:ext cx="2743200" cy="21945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3325B"/>
                </a:solidFill>
                <a:latin typeface="Calibri"/>
              </a:defRPr>
            </a:pPr>
            <a:r>
              <a:t>FINKRAFT PLATFORM</a:t>
            </a:r>
            <a:br/>
            <a:r>
              <a:t>Compliance Engine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- PINT AE UBL 2.1 Validation</a:t>
            </a:r>
            <a:br/>
            <a:r>
              <a:t>- Client Idempotency Locks</a:t>
            </a:r>
            <a:br/>
            <a:r>
              <a:t>- ASP Adapter &amp; Registry</a:t>
            </a:r>
            <a:br/>
            <a:r>
              <a:t>- Timeout Active Reconciler</a:t>
            </a:r>
            <a:br/>
            <a:r>
              <a:t>- Webhook Monotonic Ledger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1828800"/>
            <a:ext cx="2011680" cy="164592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3325B"/>
                </a:solidFill>
                <a:latin typeface="Calibri"/>
              </a:defRPr>
            </a:pPr>
            <a:r>
              <a:t>Corner 2 (C2)</a:t>
            </a:r>
            <a:br/>
            <a:r>
              <a:t>Seller's ASP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Accredited Service Provider</a:t>
            </a:r>
            <a:br/>
            <a:r>
              <a:t>(ASP A or ASP B)</a:t>
            </a:r>
            <a:br/>
            <a:r>
              <a:t>Digital Signatures &amp; Peppol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0" y="2651760"/>
            <a:ext cx="7315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697480" y="22402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i="1">
                <a:solidFill>
                  <a:srgbClr val="6B7280"/>
                </a:solidFill>
                <a:latin typeface="Calibri"/>
              </a:defRPr>
            </a:pPr>
            <a:r>
              <a:t>Raw Batch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217920" y="2651760"/>
            <a:ext cx="7315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172200" y="22402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i="1">
                <a:solidFill>
                  <a:srgbClr val="6B7280"/>
                </a:solidFill>
                <a:latin typeface="Calibri"/>
              </a:defRPr>
            </a:pPr>
            <a:r>
              <a:t>PINT AE XML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4572000"/>
            <a:ext cx="2194560" cy="16459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3325B"/>
                </a:solidFill>
                <a:latin typeface="Calibri"/>
              </a:defRPr>
            </a:pPr>
            <a:r>
              <a:t>Corner 3 (C3)</a:t>
            </a:r>
            <a:br/>
            <a:r>
              <a:t>Buyer's ASP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Receives from Peppol Network</a:t>
            </a:r>
            <a:br/>
            <a:r>
              <a:t>Reports BUYER_RECEIVED</a:t>
            </a:r>
            <a:br/>
            <a:r>
              <a:t>(Delivery Confirmation)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4572000"/>
            <a:ext cx="2194560" cy="164592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3325B"/>
                </a:solidFill>
                <a:latin typeface="Calibri"/>
              </a:defRPr>
            </a:pPr>
            <a:r>
              <a:t>Corner 4 (C4)</a:t>
            </a:r>
            <a:br/>
            <a:r>
              <a:t>Buyer ERP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Final Invoice Recipient</a:t>
            </a:r>
            <a:br/>
            <a:r>
              <a:t>ERP Accounts Payable</a:t>
            </a:r>
            <a:br/>
            <a:r>
              <a:t>Validates Input Tax Credit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828800"/>
            <a:ext cx="2194560" cy="16459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66534"/>
                </a:solidFill>
                <a:latin typeface="Calibri"/>
              </a:defRPr>
            </a:pPr>
            <a:r>
              <a:t>Corner 5 (C5)</a:t>
            </a:r>
            <a:br/>
            <a:r>
              <a:t>UAE FTA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Federal Tax Authority</a:t>
            </a:r>
            <a:br/>
            <a:r>
              <a:t>Receives TDD Document</a:t>
            </a:r>
            <a:br/>
            <a:r>
              <a:t>Real-Time Tax Clearance</a:t>
            </a:r>
            <a:br/>
            <a:r>
              <a:t>(TAX_CONFIRMED)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6583680" y="3474720"/>
            <a:ext cx="1097280" cy="109728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0" y="38404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i="1">
                <a:solidFill>
                  <a:srgbClr val="6B7280"/>
                </a:solidFill>
                <a:latin typeface="Calibri"/>
              </a:defRPr>
            </a:pPr>
            <a:r>
              <a:t>Peppol Network Exchange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80960" y="5394960"/>
            <a:ext cx="9144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635240" y="50292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i="1">
                <a:solidFill>
                  <a:srgbClr val="6B7280"/>
                </a:solidFill>
                <a:latin typeface="Calibri"/>
              </a:defRPr>
            </a:pPr>
            <a:r>
              <a:t>Commercial Delivery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61120" y="2651760"/>
            <a:ext cx="548640" cy="0"/>
          </a:xfrm>
          <a:prstGeom prst="line">
            <a:avLst/>
          </a:prstGeom>
          <a:ln w="25400">
            <a:solidFill>
              <a:srgbClr val="166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869680" y="2240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i="1">
                <a:solidFill>
                  <a:srgbClr val="6B7280"/>
                </a:solidFill>
                <a:latin typeface="Calibri"/>
              </a:defRPr>
            </a:pPr>
            <a:r>
              <a:t>Tax Clearance (TDD)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309360"/>
            <a:ext cx="10698480" cy="411480"/>
          </a:xfrm>
          <a:prstGeom prst="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991B1B"/>
                </a:solidFill>
              </a:defRPr>
            </a:pPr>
            <a:r>
              <a:t>Sovereign Tax Data Invariant: No invoice can ever be lost, and no duplicate invoice can ever be filed with the UAE FTA.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3325B"/>
                </a:solidFill>
              </a:defRPr>
            </a:pPr>
            <a:r>
              <a:t>Lifecycle State Machine Flow &amp; Milestone Lattice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t>All elements below are native, fully editable PowerPoint shapes. Click, re-color, drag, or edit as needed.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377440"/>
            <a:ext cx="1463040" cy="100584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3325B"/>
                </a:solidFill>
                <a:latin typeface="Calibri"/>
              </a:defRPr>
            </a:pPr>
            <a:r>
              <a:t>DRAFT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Ingested from</a:t>
            </a:r>
            <a:br/>
            <a:r>
              <a:t>Customer Upload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0" y="2377440"/>
            <a:ext cx="1554480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3325B"/>
                </a:solidFill>
                <a:latin typeface="Calibri"/>
              </a:defRPr>
            </a:pPr>
            <a:r>
              <a:t>VALIDATED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Enriched &amp; Verified</a:t>
            </a:r>
            <a:br/>
            <a:r>
              <a:t>PINT AE UBL 2.1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2377440"/>
            <a:ext cx="1554480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3325B"/>
                </a:solidFill>
                <a:latin typeface="Calibri"/>
              </a:defRPr>
            </a:pPr>
            <a:r>
              <a:t>SUBMITTING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Idempotency Lock</a:t>
            </a:r>
            <a:br/>
            <a:r>
              <a:t>(seller_trn, inv_num)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2377440"/>
            <a:ext cx="1645920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3325B"/>
                </a:solidFill>
                <a:latin typeface="Calibri"/>
              </a:defRPr>
            </a:pPr>
            <a:r>
              <a:t>ACKNOWLEDGED_C2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C2 ASP Accepted</a:t>
            </a:r>
            <a:br/>
            <a:r>
              <a:t>(ASP A 200 / ASP B 202)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2377440"/>
            <a:ext cx="1463040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3325B"/>
                </a:solidFill>
                <a:latin typeface="Calibri"/>
              </a:defRPr>
            </a:pPr>
            <a:r>
              <a:t>VALIDATED_C2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C2 Verified Peppol</a:t>
            </a:r>
            <a:br/>
            <a:r>
              <a:t>Schema &amp; Rules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11680" y="2880360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023360" y="2880360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35040" y="2880360"/>
            <a:ext cx="64008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321040" y="2880360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480560" y="3931920"/>
            <a:ext cx="1737360" cy="10972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B45309"/>
                </a:solidFill>
                <a:latin typeface="Calibri"/>
              </a:defRPr>
            </a:pPr>
            <a:r>
              <a:t>SUBMISSION_AMBIGUOUS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HTTP Timeout on Submit</a:t>
            </a:r>
            <a:br/>
            <a:r>
              <a:t>Blind Retry Banned!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57800" y="3383280"/>
            <a:ext cx="0" cy="548640"/>
          </a:xfrm>
          <a:prstGeom prst="line">
            <a:avLst/>
          </a:prstGeom>
          <a:ln w="254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03520" y="3520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i="1">
                <a:solidFill>
                  <a:srgbClr val="6B7280"/>
                </a:solidFill>
                <a:latin typeface="Calibri"/>
              </a:defRPr>
            </a:pPr>
            <a:r>
              <a:t>Socket Timeout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17920" y="4480560"/>
            <a:ext cx="1280159" cy="0"/>
          </a:xfrm>
          <a:prstGeom prst="line">
            <a:avLst/>
          </a:prstGeom>
          <a:ln w="254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498079" y="3383280"/>
            <a:ext cx="0" cy="1097280"/>
          </a:xfrm>
          <a:prstGeom prst="line">
            <a:avLst/>
          </a:prstGeom>
          <a:ln w="254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309360" y="4572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i="1">
                <a:solidFill>
                  <a:srgbClr val="6B7280"/>
                </a:solidFill>
                <a:latin typeface="Calibri"/>
              </a:defRPr>
            </a:pPr>
            <a:r>
              <a:t>Active Recon: Found at ASP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0" y="1371600"/>
            <a:ext cx="1554480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3325B"/>
                </a:solidFill>
                <a:latin typeface="Calibri"/>
              </a:defRPr>
            </a:pPr>
            <a:r>
              <a:t>DELIVERED_C3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C3 Buyer ASP Received</a:t>
            </a:r>
            <a:br/>
            <a:r>
              <a:t>(Milestone Flag Set)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9509760" y="1874519"/>
            <a:ext cx="1005840" cy="502921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418320" y="1783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i="1">
                <a:solidFill>
                  <a:srgbClr val="6B7280"/>
                </a:solidFill>
                <a:latin typeface="Calibri"/>
              </a:defRPr>
            </a:pPr>
            <a:r>
              <a:t>C3 Delivered First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0" y="3383280"/>
            <a:ext cx="1554480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3325B"/>
                </a:solidFill>
                <a:latin typeface="Calibri"/>
              </a:defRPr>
            </a:pPr>
            <a:r>
              <a:t>REPORTED_C5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C5 FTA Tax Cleared</a:t>
            </a:r>
            <a:br/>
            <a:r>
              <a:t>(Milestone Flag Set)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509760" y="3383280"/>
            <a:ext cx="1005840" cy="50292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418320" y="35204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i="1">
                <a:solidFill>
                  <a:srgbClr val="6B7280"/>
                </a:solidFill>
                <a:latin typeface="Calibri"/>
              </a:defRPr>
            </a:pPr>
            <a:r>
              <a:t>C5 Reported First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32720" y="5120640"/>
            <a:ext cx="1737360" cy="11887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66534"/>
                </a:solidFill>
                <a:latin typeface="Calibri"/>
              </a:defRPr>
            </a:pPr>
            <a:r>
              <a:t>COMPLIANT_AND_DELIVERED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TERMINAL SUCCESS</a:t>
            </a:r>
            <a:br/>
            <a:r>
              <a:t>Both C3 Delivery &amp; C5 Clearance</a:t>
            </a:r>
            <a:br/>
            <a:r>
              <a:t>Guaranteed Compliant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292840" y="2377440"/>
            <a:ext cx="0" cy="731520"/>
          </a:xfrm>
          <a:prstGeom prst="line">
            <a:avLst/>
          </a:prstGeom>
          <a:ln w="25400">
            <a:solidFill>
              <a:srgbClr val="166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292840" y="4389120"/>
            <a:ext cx="0" cy="731520"/>
          </a:xfrm>
          <a:prstGeom prst="line">
            <a:avLst/>
          </a:prstGeom>
          <a:ln w="25400">
            <a:solidFill>
              <a:srgbClr val="166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149840" y="4572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i="1">
                <a:solidFill>
                  <a:srgbClr val="6B7280"/>
                </a:solidFill>
                <a:latin typeface="Calibri"/>
              </a:defRPr>
            </a:pPr>
            <a:r>
              <a:t>C3+C5 Met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5120640"/>
            <a:ext cx="2011680" cy="10972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991B1B"/>
                </a:solidFill>
                <a:latin typeface="Calibri"/>
              </a:defRPr>
            </a:pPr>
            <a:r>
              <a:t>REJECTED (Terminal)</a:t>
            </a:r>
          </a:p>
          <a:p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Schema Failure (BT-48)</a:t>
            </a:r>
            <a:br/>
            <a:r>
              <a:t>or ASP Business Error</a:t>
            </a:r>
            <a:br/>
            <a:r>
              <a:t>Non-Reversible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280160" y="3383280"/>
            <a:ext cx="548640" cy="1737360"/>
          </a:xfrm>
          <a:prstGeom prst="line">
            <a:avLst/>
          </a:prstGeom>
          <a:ln w="19050">
            <a:solidFill>
              <a:srgbClr val="991B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2560320" y="3383280"/>
            <a:ext cx="365760" cy="1737360"/>
          </a:xfrm>
          <a:prstGeom prst="line">
            <a:avLst/>
          </a:prstGeom>
          <a:ln w="19050">
            <a:solidFill>
              <a:srgbClr val="991B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931920" y="5577840"/>
            <a:ext cx="5852160" cy="64008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325B"/>
                </a:solidFill>
              </a:defRPr>
            </a:pPr>
            <a:r>
              <a:t>State Machine Legend: [Blue] In-Flight Pipeline | [Amber] Ambiguous Quarantine &amp; Recon | [Green] Terminal Compliant | [Red] Terminal Rejected</a:t>
            </a:r>
          </a:p>
          <a:p>
            <a:pPr algn="ctr">
              <a:defRPr sz="750">
                <a:solidFill>
                  <a:srgbClr val="6B7280"/>
                </a:solidFill>
              </a:defRPr>
            </a:pPr>
            <a:r>
              <a:t>Monotonic Lattice Rule: Inbound webhooks/polls can arrive out-of-order or duplicate. State only advances forward; stale events are safe no-ops.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3325B"/>
                </a:solidFill>
              </a:defRPr>
            </a:pPr>
            <a:r>
              <a:t>Heterogeneous ASP Integration &amp; Resilience Engineering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t>How Finkraft abstracts ASP A (Sync/Polling) and ASP B (Async/Webhooks) while guaranteeing Zero Duplicate Filings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3325B"/>
                </a:solidFill>
                <a:latin typeface="Calibri"/>
              </a:defRPr>
            </a:pPr>
            <a:r>
              <a:t>ASP A Profile (Synchronous / Polling)</a:t>
            </a:r>
          </a:p>
          <a:p>
            <a:br/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Submission Model:</a:t>
            </a:r>
            <a:br/>
            <a:r>
              <a:t>* POST /invoices (HTTP 200 Sync)</a:t>
            </a:r>
            <a:br/>
            <a:r>
              <a:t>* Returns submission_id immediately</a:t>
            </a:r>
            <a:br/>
            <a:br/>
            <a:r>
              <a:t>Status Updates:</a:t>
            </a:r>
            <a:br/>
            <a:r>
              <a:t>* Polling only: GET /invoices/{id}</a:t>
            </a:r>
            <a:br/>
            <a:r>
              <a:t>* Statuses: RECEIVED, VALIDATED,</a:t>
            </a:r>
            <a:br/>
            <a:r>
              <a:t>  DELIVERED (C3), REPORTED (C5)</a:t>
            </a:r>
            <a:br/>
            <a:br/>
            <a:r>
              <a:t>Known Behaviors &amp; Failure Modes:</a:t>
            </a:r>
            <a:br/>
            <a:r>
              <a:t>* Native 409 duplicate rejection</a:t>
            </a:r>
            <a:br/>
            <a:r>
              <a:t>* Strict rate limit: 10 requests/sec</a:t>
            </a:r>
            <a:br/>
            <a:r>
              <a:t>* Occasional network timeout</a:t>
            </a:r>
            <a:br/>
            <a:r>
              <a:t>  AFTER invoice was accepted</a:t>
            </a:r>
            <a:br/>
            <a:br/>
            <a:r>
              <a:t>Finkraft Mitigation:</a:t>
            </a:r>
            <a:br/>
            <a:r>
              <a:t>* Token bucket throttler at 10 rps</a:t>
            </a:r>
            <a:br/>
            <a:r>
              <a:t>* Active reconciliation worker</a:t>
            </a:r>
            <a:br/>
            <a:r>
              <a:t>  before any retry (bans blind retry)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3325B"/>
                </a:solidFill>
                <a:latin typeface="Calibri"/>
              </a:defRPr>
            </a:pPr>
            <a:r>
              <a:t>Finkraft Idempotency &amp; Abstraction Shield</a:t>
            </a:r>
          </a:p>
          <a:p>
            <a:br/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Unified Adapter Contract:</a:t>
            </a:r>
            <a:br/>
            <a:r>
              <a:t>* Single polymorphic ASPAdapter</a:t>
            </a:r>
            <a:br/>
            <a:r>
              <a:t>* Dynamic ASPRegistry resolution</a:t>
            </a:r>
            <a:br/>
            <a:r>
              <a:t>* Runtime customer ASP switching</a:t>
            </a:r>
            <a:br/>
            <a:br/>
            <a:r>
              <a:t>Client-Side Idempotency Lock:</a:t>
            </a:r>
            <a:br/>
            <a:r>
              <a:t>* Compound DB unique index on:</a:t>
            </a:r>
            <a:br/>
            <a:r>
              <a:t>  (seller_trn, invoice_number)</a:t>
            </a:r>
            <a:br/>
            <a:r>
              <a:t>* Atomic compare-and-swap on submit</a:t>
            </a:r>
            <a:br/>
            <a:r>
              <a:t>* Blocks duplicates at the edge</a:t>
            </a:r>
            <a:br/>
            <a:r>
              <a:t>  BEFORE hitting ASP network</a:t>
            </a:r>
            <a:br/>
            <a:br/>
            <a:r>
              <a:t>Milestone Accumulator Lattice:</a:t>
            </a:r>
            <a:br/>
            <a:r>
              <a:t>* Independent c3_delivered_at</a:t>
            </a:r>
            <a:br/>
            <a:r>
              <a:t>* Independent c5_reported_at</a:t>
            </a:r>
            <a:br/>
            <a:r>
              <a:t>* Completes upon both non-null</a:t>
            </a:r>
            <a:br/>
            <a:br/>
            <a:r>
              <a:t>Result:</a:t>
            </a:r>
            <a:br/>
            <a:r>
              <a:t>* 100% Zero Invoices Lost</a:t>
            </a:r>
            <a:br/>
            <a:r>
              <a:t>* 100% Zero Duplicate Tax Filings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B45309"/>
                </a:solidFill>
                <a:latin typeface="Calibri"/>
              </a:defRPr>
            </a:pPr>
            <a:r>
              <a:t>ASP B Profile (Asynchronous / Webhooks)</a:t>
            </a:r>
          </a:p>
          <a:p>
            <a:br/>
            <a:pPr algn="ctr">
              <a:defRPr sz="800">
                <a:solidFill>
                  <a:srgbClr val="6B7280"/>
                </a:solidFill>
                <a:latin typeface="Calibri"/>
              </a:defRPr>
            </a:pPr>
            <a:r>
              <a:t>Submission Model:</a:t>
            </a:r>
            <a:br/>
            <a:r>
              <a:t>* POST /v2/submissions (HTTP 202)</a:t>
            </a:r>
            <a:br/>
            <a:r>
              <a:t>* Returns job_id receipt immediately</a:t>
            </a:r>
            <a:br/>
            <a:br/>
            <a:r>
              <a:t>Status Updates:</a:t>
            </a:r>
            <a:br/>
            <a:r>
              <a:t>* Webhook callbacks ONLY</a:t>
            </a:r>
            <a:br/>
            <a:r>
              <a:t>* No polling query endpoint</a:t>
            </a:r>
            <a:br/>
            <a:r>
              <a:t>* Statuses: QUEUED, ACCEPTED,</a:t>
            </a:r>
            <a:br/>
            <a:r>
              <a:t>  BUYER_RECEIVED (C3), TAX_CONFIRMED (C5)</a:t>
            </a:r>
            <a:br/>
            <a:br/>
            <a:r>
              <a:t>Known Behaviors &amp; Failure Modes:</a:t>
            </a:r>
            <a:br/>
            <a:r>
              <a:t>* ZERO DUPLICATE CHECKING</a:t>
            </a:r>
            <a:br/>
            <a:r>
              <a:t>  (Blind retries duplicate tax filings!)</a:t>
            </a:r>
            <a:br/>
            <a:r>
              <a:t>* Late, duplicate, out-of-order webhooks</a:t>
            </a:r>
            <a:br/>
            <a:br/>
            <a:r>
              <a:t>Finkraft Mitigation:</a:t>
            </a:r>
            <a:br/>
            <a:r>
              <a:t>* HMAC-SHA256 signature verification</a:t>
            </a:r>
            <a:br/>
            <a:r>
              <a:t>* Idempotent event ledger (event_id)</a:t>
            </a:r>
            <a:br/>
            <a:r>
              <a:t>* Monotonic forward transition guards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